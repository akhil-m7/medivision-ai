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418" r:id="rId5"/>
    <p:sldId id="379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407" r:id="rId15"/>
    <p:sldId id="408" r:id="rId16"/>
    <p:sldId id="409" r:id="rId17"/>
    <p:sldId id="410" r:id="rId18"/>
    <p:sldId id="411" r:id="rId19"/>
    <p:sldId id="419" r:id="rId20"/>
    <p:sldId id="420" r:id="rId21"/>
    <p:sldId id="412" r:id="rId22"/>
    <p:sldId id="413" r:id="rId23"/>
    <p:sldId id="414" r:id="rId24"/>
    <p:sldId id="415" r:id="rId25"/>
    <p:sldId id="416" r:id="rId26"/>
    <p:sldId id="417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96FDD"/>
    <a:srgbClr val="F9F9F9"/>
    <a:srgbClr val="A95E40"/>
    <a:srgbClr val="BFC7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8" autoAdjust="0"/>
    <p:restoredTop sz="94660"/>
  </p:normalViewPr>
  <p:slideViewPr>
    <p:cSldViewPr snapToGrid="0">
      <p:cViewPr varScale="1">
        <p:scale>
          <a:sx n="55" d="100"/>
          <a:sy n="55" d="100"/>
        </p:scale>
        <p:origin x="54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C2803-E06E-4EA4-B347-5D4C0589E0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2A6EA-494D-4A2D-85A4-52EAB07446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" y="0"/>
            <a:ext cx="1218040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12058"/>
            <a:ext cx="9144000" cy="2401888"/>
          </a:xfrm>
          <a:gradFill>
            <a:gsLst>
              <a:gs pos="11000">
                <a:schemeClr val="tx1">
                  <a:alpha val="0"/>
                </a:schemeClr>
              </a:gs>
              <a:gs pos="6000">
                <a:schemeClr val="accent1">
                  <a:lumMod val="40000"/>
                  <a:lumOff val="60000"/>
                  <a:alpha val="8000"/>
                </a:schemeClr>
              </a:gs>
              <a:gs pos="0">
                <a:schemeClr val="accent1"/>
              </a:gs>
              <a:gs pos="94000">
                <a:schemeClr val="accent1">
                  <a:lumMod val="60000"/>
                  <a:lumOff val="40000"/>
                  <a:alpha val="10000"/>
                </a:schemeClr>
              </a:gs>
              <a:gs pos="90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46937"/>
            <a:ext cx="9144000" cy="62547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1611-A8E9-486D-BFEC-103FCE29ED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1611-A8E9-486D-BFEC-103FCE29ED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043112"/>
          </a:xfrm>
        </p:spPr>
        <p:txBody>
          <a:bodyPr anchor="b">
            <a:normAutofit/>
          </a:bodyPr>
          <a:lstStyle>
            <a:lvl1pPr algn="ctr">
              <a:defRPr sz="5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1675" y="4127501"/>
            <a:ext cx="8235950" cy="59689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1611-A8E9-486D-BFEC-103FCE29ED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676275" y="1162049"/>
            <a:ext cx="10823575" cy="3619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 sz="132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1611-A8E9-486D-BFEC-103FCE29ED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64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049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049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1611-A8E9-486D-BFEC-103FCE29ED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" y="0"/>
            <a:ext cx="12180409" cy="6858000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2571750" y="1339826"/>
            <a:ext cx="7410450" cy="5016524"/>
            <a:chOff x="0" y="3439099"/>
            <a:chExt cx="4938713" cy="3343275"/>
          </a:xfrm>
        </p:grpSpPr>
        <p:sp>
          <p:nvSpPr>
            <p:cNvPr id="14" name="任意多边形 13"/>
            <p:cNvSpPr/>
            <p:nvPr userDrawn="1">
              <p:custDataLst>
                <p:tags r:id="rId3"/>
              </p:custDataLst>
            </p:nvPr>
          </p:nvSpPr>
          <p:spPr>
            <a:xfrm>
              <a:off x="3435350" y="5591749"/>
              <a:ext cx="469900" cy="527050"/>
            </a:xfrm>
            <a:custGeom>
              <a:avLst/>
              <a:gdLst>
                <a:gd name="connsiteX0" fmla="*/ 469900 w 469900"/>
                <a:gd name="connsiteY0" fmla="*/ 495300 h 495300"/>
                <a:gd name="connsiteX1" fmla="*/ 190500 w 469900"/>
                <a:gd name="connsiteY1" fmla="*/ 0 h 495300"/>
                <a:gd name="connsiteX2" fmla="*/ 0 w 469900"/>
                <a:gd name="connsiteY2" fmla="*/ 228600 h 495300"/>
                <a:gd name="connsiteX3" fmla="*/ 469900 w 469900"/>
                <a:gd name="connsiteY3" fmla="*/ 495300 h 495300"/>
                <a:gd name="connsiteX0-1" fmla="*/ 469900 w 469900"/>
                <a:gd name="connsiteY0-2" fmla="*/ 527050 h 527050"/>
                <a:gd name="connsiteX1-3" fmla="*/ 177800 w 469900"/>
                <a:gd name="connsiteY1-4" fmla="*/ 0 h 527050"/>
                <a:gd name="connsiteX2-5" fmla="*/ 0 w 469900"/>
                <a:gd name="connsiteY2-6" fmla="*/ 260350 h 527050"/>
                <a:gd name="connsiteX3-7" fmla="*/ 469900 w 469900"/>
                <a:gd name="connsiteY3-8" fmla="*/ 527050 h 5270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69900" h="527050">
                  <a:moveTo>
                    <a:pt x="469900" y="527050"/>
                  </a:moveTo>
                  <a:lnTo>
                    <a:pt x="177800" y="0"/>
                  </a:lnTo>
                  <a:lnTo>
                    <a:pt x="0" y="260350"/>
                  </a:lnTo>
                  <a:lnTo>
                    <a:pt x="469900" y="5270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" name="任意多边形 14"/>
            <p:cNvSpPr/>
            <p:nvPr userDrawn="1">
              <p:custDataLst>
                <p:tags r:id="rId4"/>
              </p:custDataLst>
            </p:nvPr>
          </p:nvSpPr>
          <p:spPr>
            <a:xfrm>
              <a:off x="942975" y="3805812"/>
              <a:ext cx="3995738" cy="2690812"/>
            </a:xfrm>
            <a:custGeom>
              <a:avLst/>
              <a:gdLst>
                <a:gd name="connsiteX0" fmla="*/ 0 w 4019550"/>
                <a:gd name="connsiteY0" fmla="*/ 9525 h 2643187"/>
                <a:gd name="connsiteX1" fmla="*/ 4019550 w 4019550"/>
                <a:gd name="connsiteY1" fmla="*/ 0 h 2643187"/>
                <a:gd name="connsiteX2" fmla="*/ 2076450 w 4019550"/>
                <a:gd name="connsiteY2" fmla="*/ 2643187 h 2643187"/>
                <a:gd name="connsiteX3" fmla="*/ 0 w 4019550"/>
                <a:gd name="connsiteY3" fmla="*/ 9525 h 2643187"/>
                <a:gd name="connsiteX0-1" fmla="*/ 0 w 4019550"/>
                <a:gd name="connsiteY0-2" fmla="*/ 9525 h 2700337"/>
                <a:gd name="connsiteX1-3" fmla="*/ 4019550 w 4019550"/>
                <a:gd name="connsiteY1-4" fmla="*/ 0 h 2700337"/>
                <a:gd name="connsiteX2-5" fmla="*/ 2033588 w 4019550"/>
                <a:gd name="connsiteY2-6" fmla="*/ 2700337 h 2700337"/>
                <a:gd name="connsiteX3-7" fmla="*/ 0 w 4019550"/>
                <a:gd name="connsiteY3-8" fmla="*/ 9525 h 2700337"/>
                <a:gd name="connsiteX0-9" fmla="*/ 0 w 4019550"/>
                <a:gd name="connsiteY0-10" fmla="*/ 9525 h 2700337"/>
                <a:gd name="connsiteX1-11" fmla="*/ 4019550 w 4019550"/>
                <a:gd name="connsiteY1-12" fmla="*/ 0 h 2700337"/>
                <a:gd name="connsiteX2-13" fmla="*/ 2028826 w 4019550"/>
                <a:gd name="connsiteY2-14" fmla="*/ 2700337 h 2700337"/>
                <a:gd name="connsiteX3-15" fmla="*/ 0 w 4019550"/>
                <a:gd name="connsiteY3-16" fmla="*/ 9525 h 2700337"/>
                <a:gd name="connsiteX0-17" fmla="*/ 0 w 3995738"/>
                <a:gd name="connsiteY0-18" fmla="*/ 0 h 2690812"/>
                <a:gd name="connsiteX1-19" fmla="*/ 3995738 w 3995738"/>
                <a:gd name="connsiteY1-20" fmla="*/ 4762 h 2690812"/>
                <a:gd name="connsiteX2-21" fmla="*/ 2028826 w 3995738"/>
                <a:gd name="connsiteY2-22" fmla="*/ 2690812 h 2690812"/>
                <a:gd name="connsiteX3-23" fmla="*/ 0 w 3995738"/>
                <a:gd name="connsiteY3-24" fmla="*/ 0 h 2690812"/>
              </a:gdLst>
              <a:ahLst/>
              <a:cxnLst>
                <a:cxn ang="0">
                  <a:pos x="connsiteX0-17" y="connsiteY0-18"/>
                </a:cxn>
                <a:cxn ang="0">
                  <a:pos x="connsiteX1-19" y="connsiteY1-20"/>
                </a:cxn>
                <a:cxn ang="0">
                  <a:pos x="connsiteX2-21" y="connsiteY2-22"/>
                </a:cxn>
                <a:cxn ang="0">
                  <a:pos x="connsiteX3-23" y="connsiteY3-24"/>
                </a:cxn>
              </a:cxnLst>
              <a:rect l="l" t="t" r="r" b="b"/>
              <a:pathLst>
                <a:path w="3995738" h="2690812">
                  <a:moveTo>
                    <a:pt x="0" y="0"/>
                  </a:moveTo>
                  <a:lnTo>
                    <a:pt x="3995738" y="4762"/>
                  </a:lnTo>
                  <a:lnTo>
                    <a:pt x="2028826" y="2690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" name="任意多边形 15"/>
            <p:cNvSpPr/>
            <p:nvPr userDrawn="1">
              <p:custDataLst>
                <p:tags r:id="rId5"/>
              </p:custDataLst>
            </p:nvPr>
          </p:nvSpPr>
          <p:spPr>
            <a:xfrm>
              <a:off x="0" y="3439099"/>
              <a:ext cx="4938713" cy="385763"/>
            </a:xfrm>
            <a:custGeom>
              <a:avLst/>
              <a:gdLst>
                <a:gd name="connsiteX0" fmla="*/ 0 w 4957763"/>
                <a:gd name="connsiteY0" fmla="*/ 0 h 385762"/>
                <a:gd name="connsiteX1" fmla="*/ 3505200 w 4957763"/>
                <a:gd name="connsiteY1" fmla="*/ 0 h 385762"/>
                <a:gd name="connsiteX2" fmla="*/ 4957763 w 4957763"/>
                <a:gd name="connsiteY2" fmla="*/ 381000 h 385762"/>
                <a:gd name="connsiteX3" fmla="*/ 952500 w 4957763"/>
                <a:gd name="connsiteY3" fmla="*/ 385762 h 385762"/>
                <a:gd name="connsiteX4" fmla="*/ 0 w 4957763"/>
                <a:gd name="connsiteY4" fmla="*/ 0 h 385762"/>
                <a:gd name="connsiteX0-1" fmla="*/ 0 w 4957763"/>
                <a:gd name="connsiteY0-2" fmla="*/ 0 h 385762"/>
                <a:gd name="connsiteX1-3" fmla="*/ 3505200 w 4957763"/>
                <a:gd name="connsiteY1-4" fmla="*/ 0 h 385762"/>
                <a:gd name="connsiteX2-5" fmla="*/ 4957763 w 4957763"/>
                <a:gd name="connsiteY2-6" fmla="*/ 371475 h 385762"/>
                <a:gd name="connsiteX3-7" fmla="*/ 952500 w 4957763"/>
                <a:gd name="connsiteY3-8" fmla="*/ 385762 h 385762"/>
                <a:gd name="connsiteX4-9" fmla="*/ 0 w 4957763"/>
                <a:gd name="connsiteY4-10" fmla="*/ 0 h 385762"/>
                <a:gd name="connsiteX0-11" fmla="*/ 0 w 4957763"/>
                <a:gd name="connsiteY0-12" fmla="*/ 0 h 385762"/>
                <a:gd name="connsiteX1-13" fmla="*/ 3505200 w 4957763"/>
                <a:gd name="connsiteY1-14" fmla="*/ 0 h 385762"/>
                <a:gd name="connsiteX2-15" fmla="*/ 4957763 w 4957763"/>
                <a:gd name="connsiteY2-16" fmla="*/ 381000 h 385762"/>
                <a:gd name="connsiteX3-17" fmla="*/ 952500 w 4957763"/>
                <a:gd name="connsiteY3-18" fmla="*/ 385762 h 385762"/>
                <a:gd name="connsiteX4-19" fmla="*/ 0 w 4957763"/>
                <a:gd name="connsiteY4-20" fmla="*/ 0 h 385762"/>
                <a:gd name="connsiteX0-21" fmla="*/ 0 w 4957763"/>
                <a:gd name="connsiteY0-22" fmla="*/ 0 h 385762"/>
                <a:gd name="connsiteX1-23" fmla="*/ 3505200 w 4957763"/>
                <a:gd name="connsiteY1-24" fmla="*/ 0 h 385762"/>
                <a:gd name="connsiteX2-25" fmla="*/ 4957763 w 4957763"/>
                <a:gd name="connsiteY2-26" fmla="*/ 376238 h 385762"/>
                <a:gd name="connsiteX3-27" fmla="*/ 952500 w 4957763"/>
                <a:gd name="connsiteY3-28" fmla="*/ 385762 h 385762"/>
                <a:gd name="connsiteX4-29" fmla="*/ 0 w 4957763"/>
                <a:gd name="connsiteY4-30" fmla="*/ 0 h 385762"/>
                <a:gd name="connsiteX0-31" fmla="*/ 0 w 4962544"/>
                <a:gd name="connsiteY0-32" fmla="*/ 0 h 385762"/>
                <a:gd name="connsiteX1-33" fmla="*/ 3505200 w 4962544"/>
                <a:gd name="connsiteY1-34" fmla="*/ 0 h 385762"/>
                <a:gd name="connsiteX2-35" fmla="*/ 4962544 w 4962544"/>
                <a:gd name="connsiteY2-36" fmla="*/ 373856 h 385762"/>
                <a:gd name="connsiteX3-37" fmla="*/ 952500 w 4962544"/>
                <a:gd name="connsiteY3-38" fmla="*/ 385762 h 385762"/>
                <a:gd name="connsiteX4-39" fmla="*/ 0 w 4962544"/>
                <a:gd name="connsiteY4-40" fmla="*/ 0 h 385762"/>
              </a:gdLst>
              <a:ahLst/>
              <a:cxnLst>
                <a:cxn ang="0">
                  <a:pos x="connsiteX0-31" y="connsiteY0-32"/>
                </a:cxn>
                <a:cxn ang="0">
                  <a:pos x="connsiteX1-33" y="connsiteY1-34"/>
                </a:cxn>
                <a:cxn ang="0">
                  <a:pos x="connsiteX2-35" y="connsiteY2-36"/>
                </a:cxn>
                <a:cxn ang="0">
                  <a:pos x="connsiteX3-37" y="connsiteY3-38"/>
                </a:cxn>
                <a:cxn ang="0">
                  <a:pos x="connsiteX4-39" y="connsiteY4-40"/>
                </a:cxn>
              </a:cxnLst>
              <a:rect l="l" t="t" r="r" b="b"/>
              <a:pathLst>
                <a:path w="4962544" h="385762">
                  <a:moveTo>
                    <a:pt x="0" y="0"/>
                  </a:moveTo>
                  <a:lnTo>
                    <a:pt x="3505200" y="0"/>
                  </a:lnTo>
                  <a:lnTo>
                    <a:pt x="4962544" y="373856"/>
                  </a:lnTo>
                  <a:lnTo>
                    <a:pt x="952500" y="385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" name="任意多边形 16"/>
            <p:cNvSpPr/>
            <p:nvPr userDrawn="1">
              <p:custDataLst>
                <p:tags r:id="rId6"/>
              </p:custDataLst>
            </p:nvPr>
          </p:nvSpPr>
          <p:spPr>
            <a:xfrm>
              <a:off x="2817813" y="5082162"/>
              <a:ext cx="687387" cy="615950"/>
            </a:xfrm>
            <a:custGeom>
              <a:avLst/>
              <a:gdLst>
                <a:gd name="connsiteX0" fmla="*/ 673100 w 673100"/>
                <a:gd name="connsiteY0" fmla="*/ 0 h 615950"/>
                <a:gd name="connsiteX1" fmla="*/ 406400 w 673100"/>
                <a:gd name="connsiteY1" fmla="*/ 615950 h 615950"/>
                <a:gd name="connsiteX2" fmla="*/ 0 w 673100"/>
                <a:gd name="connsiteY2" fmla="*/ 342900 h 615950"/>
                <a:gd name="connsiteX3" fmla="*/ 673100 w 673100"/>
                <a:gd name="connsiteY3" fmla="*/ 0 h 615950"/>
                <a:gd name="connsiteX0-1" fmla="*/ 685007 w 685007"/>
                <a:gd name="connsiteY0-2" fmla="*/ 0 h 615950"/>
                <a:gd name="connsiteX1-3" fmla="*/ 418307 w 685007"/>
                <a:gd name="connsiteY1-4" fmla="*/ 615950 h 615950"/>
                <a:gd name="connsiteX2-5" fmla="*/ 0 w 685007"/>
                <a:gd name="connsiteY2-6" fmla="*/ 350044 h 615950"/>
                <a:gd name="connsiteX3-7" fmla="*/ 685007 w 685007"/>
                <a:gd name="connsiteY3-8" fmla="*/ 0 h 615950"/>
                <a:gd name="connsiteX0-9" fmla="*/ 687388 w 687388"/>
                <a:gd name="connsiteY0-10" fmla="*/ 0 h 615950"/>
                <a:gd name="connsiteX1-11" fmla="*/ 420688 w 687388"/>
                <a:gd name="connsiteY1-12" fmla="*/ 615950 h 615950"/>
                <a:gd name="connsiteX2-13" fmla="*/ 0 w 687388"/>
                <a:gd name="connsiteY2-14" fmla="*/ 350044 h 615950"/>
                <a:gd name="connsiteX3-15" fmla="*/ 687388 w 687388"/>
                <a:gd name="connsiteY3-16" fmla="*/ 0 h 615950"/>
                <a:gd name="connsiteX0-17" fmla="*/ 675671 w 675671"/>
                <a:gd name="connsiteY0-18" fmla="*/ 0 h 615950"/>
                <a:gd name="connsiteX1-19" fmla="*/ 408971 w 675671"/>
                <a:gd name="connsiteY1-20" fmla="*/ 615950 h 615950"/>
                <a:gd name="connsiteX2-21" fmla="*/ 0 w 675671"/>
                <a:gd name="connsiteY2-22" fmla="*/ 354806 h 615950"/>
                <a:gd name="connsiteX3-23" fmla="*/ 675671 w 675671"/>
                <a:gd name="connsiteY3-24" fmla="*/ 0 h 615950"/>
              </a:gdLst>
              <a:ahLst/>
              <a:cxnLst>
                <a:cxn ang="0">
                  <a:pos x="connsiteX0-17" y="connsiteY0-18"/>
                </a:cxn>
                <a:cxn ang="0">
                  <a:pos x="connsiteX1-19" y="connsiteY1-20"/>
                </a:cxn>
                <a:cxn ang="0">
                  <a:pos x="connsiteX2-21" y="connsiteY2-22"/>
                </a:cxn>
                <a:cxn ang="0">
                  <a:pos x="connsiteX3-23" y="connsiteY3-24"/>
                </a:cxn>
              </a:cxnLst>
              <a:rect l="l" t="t" r="r" b="b"/>
              <a:pathLst>
                <a:path w="675671" h="615950">
                  <a:moveTo>
                    <a:pt x="675671" y="0"/>
                  </a:moveTo>
                  <a:lnTo>
                    <a:pt x="408971" y="615950"/>
                  </a:lnTo>
                  <a:lnTo>
                    <a:pt x="0" y="354806"/>
                  </a:lnTo>
                  <a:lnTo>
                    <a:pt x="675671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" name="任意多边形 17"/>
            <p:cNvSpPr/>
            <p:nvPr userDrawn="1">
              <p:custDataLst>
                <p:tags r:id="rId7"/>
              </p:custDataLst>
            </p:nvPr>
          </p:nvSpPr>
          <p:spPr>
            <a:xfrm>
              <a:off x="2806700" y="5436174"/>
              <a:ext cx="1104900" cy="1346200"/>
            </a:xfrm>
            <a:custGeom>
              <a:avLst/>
              <a:gdLst>
                <a:gd name="connsiteX0" fmla="*/ 12700 w 1092200"/>
                <a:gd name="connsiteY0" fmla="*/ 0 h 1346200"/>
                <a:gd name="connsiteX1" fmla="*/ 0 w 1092200"/>
                <a:gd name="connsiteY1" fmla="*/ 1346200 h 1346200"/>
                <a:gd name="connsiteX2" fmla="*/ 1092200 w 1092200"/>
                <a:gd name="connsiteY2" fmla="*/ 692150 h 1346200"/>
                <a:gd name="connsiteX3" fmla="*/ 12700 w 1092200"/>
                <a:gd name="connsiteY3" fmla="*/ 0 h 1346200"/>
                <a:gd name="connsiteX0-1" fmla="*/ 12700 w 1104900"/>
                <a:gd name="connsiteY0-2" fmla="*/ 0 h 1346200"/>
                <a:gd name="connsiteX1-3" fmla="*/ 0 w 1104900"/>
                <a:gd name="connsiteY1-4" fmla="*/ 1346200 h 1346200"/>
                <a:gd name="connsiteX2-5" fmla="*/ 1104900 w 1104900"/>
                <a:gd name="connsiteY2-6" fmla="*/ 685800 h 1346200"/>
                <a:gd name="connsiteX3-7" fmla="*/ 12700 w 1104900"/>
                <a:gd name="connsiteY3-8" fmla="*/ 0 h 13462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104900" h="1346200">
                  <a:moveTo>
                    <a:pt x="12700" y="0"/>
                  </a:moveTo>
                  <a:lnTo>
                    <a:pt x="0" y="1346200"/>
                  </a:lnTo>
                  <a:lnTo>
                    <a:pt x="1104900" y="6858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966595" y="2110673"/>
            <a:ext cx="6230009" cy="1154389"/>
          </a:xfrm>
          <a:noFill/>
        </p:spPr>
        <p:txBody>
          <a:bodyPr anchor="ctr" anchorCtr="0">
            <a:noAutofit/>
          </a:bodyPr>
          <a:lstStyle>
            <a:lvl1pPr algn="ctr">
              <a:lnSpc>
                <a:spcPct val="120000"/>
              </a:lnSpc>
              <a:defRPr sz="6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1611-A8E9-486D-BFEC-103FCE29ED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4730106" y="3458872"/>
            <a:ext cx="4694565" cy="5291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266700" indent="0">
              <a:buNone/>
              <a:defRPr/>
            </a:lvl2pPr>
            <a:lvl3pPr marL="455295" indent="0">
              <a:buNone/>
              <a:defRPr/>
            </a:lvl3pPr>
            <a:lvl4pPr marL="662940" indent="0">
              <a:buNone/>
              <a:defRPr/>
            </a:lvl4pPr>
            <a:lvl5pPr marL="851535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1611-A8E9-486D-BFEC-103FCE29ED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" y="0"/>
            <a:ext cx="12180409" cy="6858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" y="0"/>
            <a:ext cx="1218040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1611-A8E9-486D-BFEC-103FCE29ED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ly-arranged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" y="0"/>
            <a:ext cx="12180409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1611-A8E9-486D-BFEC-103FCE29ED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" y="0"/>
            <a:ext cx="12180409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1D3F-34E9-4F9D-84A2-72367D9F9A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DC01-BD11-43BE-8FE9-19C0CFD26E47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839559" y="449360"/>
            <a:ext cx="10512884" cy="581770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tx1"/>
                </a:solidFill>
              </a:defRPr>
            </a:lvl1pPr>
            <a:lvl2pPr marL="393700" indent="0">
              <a:buFontTx/>
              <a:buNone/>
              <a:defRPr sz="2000">
                <a:solidFill>
                  <a:schemeClr val="tx1"/>
                </a:solidFill>
              </a:defRPr>
            </a:lvl2pPr>
            <a:lvl3pPr marL="661035" indent="0">
              <a:buFontTx/>
              <a:buNone/>
              <a:defRPr sz="1800">
                <a:solidFill>
                  <a:schemeClr val="tx1"/>
                </a:solidFill>
              </a:defRPr>
            </a:lvl3pPr>
            <a:lvl4pPr marL="851535" indent="0">
              <a:buFontTx/>
              <a:buNone/>
              <a:defRPr sz="1800">
                <a:solidFill>
                  <a:schemeClr val="tx1"/>
                </a:solidFill>
              </a:defRPr>
            </a:lvl4pPr>
            <a:lvl5pPr marL="1054735" indent="0">
              <a:buFontTx/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 rot="5400000">
            <a:off x="3694323" y="-1501642"/>
            <a:ext cx="4803354" cy="10836430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6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717594"/>
            <a:ext cx="10515600" cy="4374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01611-A8E9-486D-BFEC-103FCE29ED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4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6.xml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874520" y="2644775"/>
            <a:ext cx="844232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72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MediVison AI</a:t>
            </a:r>
            <a:endParaRPr lang="en-US" altLang="en-GB" sz="72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4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AI-Powered Skin and Oral Disease Detection System</a:t>
            </a:r>
            <a:endParaRPr lang="en-US" altLang="en-GB" sz="24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0520" y="4528185"/>
            <a:ext cx="38703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16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Developed by: Akhil Mohan</a:t>
            </a:r>
            <a:endParaRPr lang="en-US" altLang="en-GB" sz="16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CONTENTS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205230"/>
            <a:ext cx="1083373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Literature Survey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Inferences from Literature Survey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Proposed System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Architecture Diagram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Novelty of Proposed Method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Algorithm / Workflow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Training Model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Dataset Details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Implementation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Key Features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Screenshots / Workflow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Hardware &amp; Software Requirements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Performance Evaluation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Summary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Future Enhancements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Healthcare accessibility and early disease detection are important challenges in modern society.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MediVision AI is an AI-powered healthcare web application developed to assist users in detecting skin and oral diseases using image analysis and symptom-based prediction.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system integrates: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Artificial Intelligence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Deep Learning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Web Technologies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Symptom Analysis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to provide preliminary healthcare assistance.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Traditional disease diagnosis often requires specialist consultation and manual examination, which may not always be immediately accessible.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Challenges: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Delayed diagnosis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Limited accessibility to healthcare specialists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Lack of preliminary healthcare tools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Time-consuming manual analysis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There is a need for an intelligent AI-assisted healthcare platform capable of providing preliminary disease prediction using medical images and symptoms.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Develop an AI-powered healthcare web application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Detect skin diseases using image classification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Detect oral diseases using image analysis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Integrate symptom-based prediction system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Maintain prediction history and user profiles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Build responsive and user-friendly interface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Integrate deep learning models with Flask backend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LITERATURE SURVEY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Existing Research Works: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1. Skin Disease Detection using CNN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  - CNN-based medical image classification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  - High accuracy for skin disease detection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2. Oral Disease Classification using Transfer Learning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  - MobileNetV2 and deep learning models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  - Faster disease prediction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3. AI-Based Healthcare Platforms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  - Integration of AI and web applications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  - Improved healthcare accessibility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Limitations of Existing Systems: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Focus only on single disease category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Limited user interaction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Lack of symptom integration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No history tracking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INFERENCE FROM LITERATURE SURVEY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From the literature survey, the following observations were identified: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Most systems focus only on skin OR oral disease detection individually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Existing systems lack integrated healthcare functionality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Many systems do not include symptom-based prediction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User authentication and prediction history are often missing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Lightweight transfer learning models are more efficient for deployment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These observations motivated the development of MediVision AI.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PROPOSED SYSTEM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MediVision AI is designed as a complete AI-assisted healthcare platform.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Main Components: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Flask Web Application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TensorFlow AI Models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SQLite Database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Symptom Analysis Engine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User Authentication System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system allows users to: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Upload images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Enter symptoms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Get AI-based disease prediction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View confidence score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Save prediction history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ARCHITECTURE DIAGRAM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archite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440" y="1273810"/>
            <a:ext cx="7624445" cy="50825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NOVELTY OF SYSTEM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Combined Skin + Oral Disease Detection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Hybrid Image and Symptom Analysis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AI Confidence Score Prediction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OTP-Based User Authentication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Prediction History Tracking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Profile Management System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Deep Learning Integration with Flask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WORKFLOW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1. User Login / Registration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2. Upload Skin or Oral Image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3. Enter Symptoms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4. Image Preprocessing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5. AI Model Prediction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6. Symptom Analysis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7. Generate Final Prediction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8. Store Prediction in Database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9. Display Result to User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TRAINING MODEL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AI Model Development: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TensorFlow and Keras Framework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MobileNetV2 Transfer Learning Architecture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CNN-Based Classification Models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Training Parameters: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Epochs: 10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Batch Size: 32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Image Size: 224x224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Benefits: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Lightweight architecture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Faster prediction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Better deployment capability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DATASET DETAILS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Skin Disease Dataset: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Source: Kaggle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Multiple skin disease classes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Includes Acne, Psoriasis, Vitiligo, Eczema, Warts, etc.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Dataset Link: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https://www.kaggle.com/datasets/pacificrm/skindiseasedataset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Oral Disease Dataset: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Source: Kaggle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Includes Gingivitis, Caries, Mouth Ulcer, Tooth Discoloration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Dataset Link: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https://www.kaggle.com/datasets/salmansajid05/oral-diseases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IMPLEMENTATION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971550"/>
            <a:ext cx="10833735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Frontend: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HTML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CSS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Bootstrap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Backend: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Flask Framework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Python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Database: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SQLite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AI Integration: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TensorFlow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Keras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MobileNetV2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Additional Features: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OTP Verification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Prediction History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Profile Management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KEY FEATURES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Skin Disease Detection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Oral Disease Detection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Symptom-Based Prediction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AI Confidence Score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User Authentication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OTP Email Verification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Prediction History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User Profile Management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Responsive UI Design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SCREENSHOTS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Picture 12" descr="analysis_se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245" y="1323340"/>
            <a:ext cx="10302875" cy="49580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SCREENSHOTS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 descr="skin_analysis_p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140" y="1700530"/>
            <a:ext cx="3620770" cy="4064635"/>
          </a:xfrm>
          <a:prstGeom prst="rect">
            <a:avLst/>
          </a:prstGeom>
        </p:spPr>
      </p:pic>
      <p:pic>
        <p:nvPicPr>
          <p:cNvPr id="11" name="Picture 10" descr="oral_analysis_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230" y="1700530"/>
            <a:ext cx="3623945" cy="40652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SCREENSHOTS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 descr="skin_analysis_p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140" y="1700530"/>
            <a:ext cx="3620770" cy="4064635"/>
          </a:xfrm>
          <a:prstGeom prst="rect">
            <a:avLst/>
          </a:prstGeom>
        </p:spPr>
      </p:pic>
      <p:pic>
        <p:nvPicPr>
          <p:cNvPr id="9" name="Picture 8" descr="skin_analysis_resul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140" y="1700530"/>
            <a:ext cx="3620770" cy="4065270"/>
          </a:xfrm>
          <a:prstGeom prst="rect">
            <a:avLst/>
          </a:prstGeom>
        </p:spPr>
      </p:pic>
      <p:pic>
        <p:nvPicPr>
          <p:cNvPr id="11" name="Picture 10" descr="oral_analysis_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230" y="1700530"/>
            <a:ext cx="3623945" cy="4065270"/>
          </a:xfrm>
          <a:prstGeom prst="rect">
            <a:avLst/>
          </a:prstGeom>
        </p:spPr>
      </p:pic>
      <p:pic>
        <p:nvPicPr>
          <p:cNvPr id="10" name="Picture 9" descr="oral_analysis_resu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595" y="1696720"/>
            <a:ext cx="3625215" cy="40684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HARDWARE &amp; SOFTWARE DETAILS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Hardware Requirements: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Intel i5 Processor or Higher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8 GB RAM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Internet Connection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Software Requirements: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Python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Flask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TensorFlow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SQLite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VS Code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Google Colab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PERFORMANCE EVALUATION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Oral Disease Model Accuracy: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48.15%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Skin Disease Model Accuracy: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23.60%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Performance Metrics: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Accuracy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Loss Analysis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Confidence Score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models can be improved further using: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Larger datasets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More epochs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Better preprocessing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Fine-tuning techniques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SUMMARY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MediVision AI successfully integrates: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Artificial Intelligence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Deep Learning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Flask Web Development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Symptom Analysis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Database Management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into a complete AI-powered healthcare platform.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project demonstrates the effectiveness of AI-assisted healthcare systems for preliminary disease prediction.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Achievements: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Developed complete healthcare platform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Integrated TensorFlow AI models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Implemented symptom analysis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Created responsive UI system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system can assist users in obtaining preliminary healthcare insights efficiently.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FUTURE ENHANCEMENT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Improve AI model accuracy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Real-time camera prediction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Cloud deployment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AI chatbot integration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Doctor consultation support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PDF medical report generation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• Larger medical datasets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59D1C6-1DB6-4154-AF5C-C7FC06CCE1B2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55295" y="351155"/>
            <a:ext cx="10961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 altLang="en-GB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3885" y="1316990"/>
            <a:ext cx="1083373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[1] J. Rashid, M. A. Alhaisoni, S. H. Bukhari, et al., “Mouth and oral disease classification using InceptionResNetV2,” Multimedia Tools and Applications, vol. 83, pp. 1–28, 2024.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[2] M. Zhou, et al., “Deep learning algorithms for classification and detection of oral diseases,” Scientific Reports, vol. 14, no. 1, 2024.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[3] J. S. Velasco, J. V. Catipon, E. G. Monilar, et al., “Classification of Skin Disease Using Transfer Learning in Convolutional Neural Networks,” 2023 International Conference on Artificial Intelligence and Healthcare Systems, 2023.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[4] S. Innani, P. Dutande, B. Baheti, et al., “Deep Learning based Novel Cascaded Approach for Skin Lesion Analysis,” IEEE Access, vol. 11, pp. 21544–21558, 2023.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[5] A. G. Ali, A. Dastgir, M. W. Iqbal, et al., “A hybrid convolutional neural network model for automatic diabetic retinopathy classification from fundus images,” IEEE Journal of Translational Engineering in Health and Medicine, vol. 11, 2023.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9160236_12*i*2"/>
  <p:tag name="KSO_WM_TEMPLATE_CATEGORY" val="custom"/>
  <p:tag name="KSO_WM_TEMPLATE_INDEX" val="9160236"/>
</p:tagLst>
</file>

<file path=ppt/tags/tag2.xml><?xml version="1.0" encoding="utf-8"?>
<p:tagLst xmlns:p="http://schemas.openxmlformats.org/presentationml/2006/main">
  <p:tag name="MH" val="20150925115704"/>
  <p:tag name="MH_LIBRARY" val="GRAPHIC"/>
  <p:tag name="MH_ORDER" val="Freeform 5"/>
</p:tagLst>
</file>

<file path=ppt/tags/tag3.xml><?xml version="1.0" encoding="utf-8"?>
<p:tagLst xmlns:p="http://schemas.openxmlformats.org/presentationml/2006/main">
  <p:tag name="MH" val="20150925115704"/>
  <p:tag name="MH_LIBRARY" val="GRAPHIC"/>
  <p:tag name="MH_ORDER" val="Freeform 3"/>
</p:tagLst>
</file>

<file path=ppt/tags/tag4.xml><?xml version="1.0" encoding="utf-8"?>
<p:tagLst xmlns:p="http://schemas.openxmlformats.org/presentationml/2006/main">
  <p:tag name="MH" val="20150925115704"/>
  <p:tag name="MH_LIBRARY" val="GRAPHIC"/>
  <p:tag name="MH_ORDER" val="Freeform 2"/>
</p:tagLst>
</file>

<file path=ppt/tags/tag5.xml><?xml version="1.0" encoding="utf-8"?>
<p:tagLst xmlns:p="http://schemas.openxmlformats.org/presentationml/2006/main">
  <p:tag name="MH" val="20150925115704"/>
  <p:tag name="MH_LIBRARY" val="GRAPHIC"/>
  <p:tag name="MH_ORDER" val="Freeform 4"/>
</p:tagLst>
</file>

<file path=ppt/tags/tag6.xml><?xml version="1.0" encoding="utf-8"?>
<p:tagLst xmlns:p="http://schemas.openxmlformats.org/presentationml/2006/main">
  <p:tag name="MH" val="20150925115704"/>
  <p:tag name="MH_LIBRARY" val="GRAPHIC"/>
  <p:tag name="MH_ORDER" val="Freeform 6"/>
</p:tagLst>
</file>

<file path=ppt/tags/tag7.xml><?xml version="1.0" encoding="utf-8"?>
<p:tagLst xmlns:p="http://schemas.openxmlformats.org/presentationml/2006/main">
  <p:tag name="KSO_WM_TAG_VERSION" val="1.0"/>
  <p:tag name="KSO_WM_TEMPLATE_CATEGORY" val="custom"/>
  <p:tag name="KSO_WM_TEMPLATE_INDEX" val="160556"/>
</p:tagLst>
</file>

<file path=ppt/tags/tag8.xml><?xml version="1.0" encoding="utf-8"?>
<p:tagLst xmlns:p="http://schemas.openxmlformats.org/presentationml/2006/main">
  <p:tag name="KSO_WM_TAG_VERSION" val="1.0"/>
  <p:tag name="KSO_WM_TEMPLATE_CATEGORY" val="custom"/>
  <p:tag name="KSO_WM_TEMPLATE_INDEX" val="160556"/>
</p:tagLst>
</file>

<file path=ppt/tags/tag9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0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1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2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3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4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5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6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7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8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9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0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1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2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3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4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5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6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7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8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9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31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32.xml><?xml version="1.0" encoding="utf-8"?>
<p:tagLst xmlns:p="http://schemas.openxmlformats.org/presentationml/2006/main">
  <p:tag name="KSO_WM_TEMPLATE_THUMBS_INDEX" val="1、4、5、9、12、15、23、25、26、27"/>
  <p:tag name="KSO_WM_TEMPLATE_CATEGORY" val="custom"/>
  <p:tag name="KSO_WM_TEMPLATE_INDEX" val="160556"/>
  <p:tag name="KSO_WM_TAG_VERSION" val="1.0"/>
  <p:tag name="KSO_WM_SLIDE_ID" val="custom1605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160556">
      <a:dk1>
        <a:srgbClr val="FFFFFF"/>
      </a:dk1>
      <a:lt1>
        <a:srgbClr val="5A5A5A"/>
      </a:lt1>
      <a:dk2>
        <a:srgbClr val="FFFFFF"/>
      </a:dk2>
      <a:lt2>
        <a:srgbClr val="5A5A5A"/>
      </a:lt2>
      <a:accent1>
        <a:srgbClr val="92D050"/>
      </a:accent1>
      <a:accent2>
        <a:srgbClr val="52AE96"/>
      </a:accent2>
      <a:accent3>
        <a:srgbClr val="5FB4CF"/>
      </a:accent3>
      <a:accent4>
        <a:srgbClr val="83738D"/>
      </a:accent4>
      <a:accent5>
        <a:srgbClr val="5959A7"/>
      </a:accent5>
      <a:accent6>
        <a:srgbClr val="F49100"/>
      </a:accent6>
      <a:hlink>
        <a:srgbClr val="C764EE"/>
      </a:hlink>
      <a:folHlink>
        <a:srgbClr val="85DFD0"/>
      </a:folHlink>
    </a:clrScheme>
    <a:fontScheme name="自定义 2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6902</Words>
  <Application>WPS Presentation</Application>
  <PresentationFormat>宽屏</PresentationFormat>
  <Paragraphs>382</Paragraphs>
  <Slides>24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SimSun</vt:lpstr>
      <vt:lpstr>Wingdings</vt:lpstr>
      <vt:lpstr>Microsoft YaHei</vt:lpstr>
      <vt:lpstr>Arial Unicode MS</vt:lpstr>
      <vt:lpstr>黑体</vt:lpstr>
      <vt:lpstr>Calibri</vt:lpstr>
      <vt:lpstr>Times New Roman</vt:lpstr>
      <vt:lpstr>Office Theme</vt:lpstr>
      <vt:lpstr>Polyhedron Creative Business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</dc:title>
  <dc:creator>quan</dc:creator>
  <cp:lastModifiedBy>Autoflame</cp:lastModifiedBy>
  <cp:revision>282</cp:revision>
  <dcterms:created xsi:type="dcterms:W3CDTF">2015-09-21T03:34:00Z</dcterms:created>
  <dcterms:modified xsi:type="dcterms:W3CDTF">2026-05-07T15:11:44Z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2057-12.2.0.19821</vt:lpwstr>
  </property>
  <property fmtid="{D5CDD505-2E9C-101B-9397-08002B2CF9AE}" pid="3" name="ICV">
    <vt:lpwstr>EF1DB8AF070640E48C7EF67C178A97C5_13</vt:lpwstr>
  </property>
</Properties>
</file>